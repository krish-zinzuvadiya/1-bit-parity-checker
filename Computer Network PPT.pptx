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Poppins" panose="00000500000000000000" pitchFamily="2" charset="0"/>
      <p:regular r:id="rId12"/>
    </p:embeddedFont>
    <p:embeddedFont>
      <p:font typeface="Poppins Bold" panose="00000800000000000000" charset="0"/>
      <p:regular r:id="rId13"/>
    </p:embeddedFont>
    <p:embeddedFont>
      <p:font typeface="Poppins Medium" panose="000006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931D68-DE48-4A64-AB42-AA2FAEEB7C87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8359AC-EC14-493B-9664-24A4E0F22A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83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59AC-EC14-493B-9664-24A4E0F22A0E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839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8359AC-EC14-493B-9664-24A4E0F22A0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65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908767" y="1374714"/>
            <a:ext cx="6379233" cy="8140553"/>
          </a:xfrm>
          <a:custGeom>
            <a:avLst/>
            <a:gdLst/>
            <a:ahLst/>
            <a:cxnLst/>
            <a:rect l="l" t="t" r="r" b="b"/>
            <a:pathLst>
              <a:path w="6379233" h="8140553">
                <a:moveTo>
                  <a:pt x="0" y="0"/>
                </a:moveTo>
                <a:lnTo>
                  <a:pt x="6379233" y="0"/>
                </a:lnTo>
                <a:lnTo>
                  <a:pt x="6379233" y="8140554"/>
                </a:lnTo>
                <a:lnTo>
                  <a:pt x="0" y="81405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10810" y="-155024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263774" y="-842039"/>
            <a:ext cx="6775868" cy="4114800"/>
          </a:xfrm>
          <a:custGeom>
            <a:avLst/>
            <a:gdLst/>
            <a:ahLst/>
            <a:cxnLst/>
            <a:rect l="l" t="t" r="r" b="b"/>
            <a:pathLst>
              <a:path w="6775868" h="4114800">
                <a:moveTo>
                  <a:pt x="0" y="0"/>
                </a:moveTo>
                <a:lnTo>
                  <a:pt x="6775868" y="0"/>
                </a:lnTo>
                <a:lnTo>
                  <a:pt x="677586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4276"/>
            <a:ext cx="4998579" cy="2620876"/>
          </a:xfrm>
          <a:custGeom>
            <a:avLst/>
            <a:gdLst/>
            <a:ahLst/>
            <a:cxnLst/>
            <a:rect l="l" t="t" r="r" b="b"/>
            <a:pathLst>
              <a:path w="4998579" h="2620876">
                <a:moveTo>
                  <a:pt x="0" y="0"/>
                </a:moveTo>
                <a:lnTo>
                  <a:pt x="4998579" y="0"/>
                </a:lnTo>
                <a:lnTo>
                  <a:pt x="4998579" y="2620877"/>
                </a:lnTo>
                <a:lnTo>
                  <a:pt x="0" y="26208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0" y="3493964"/>
            <a:ext cx="11908767" cy="1464829"/>
            <a:chOff x="0" y="0"/>
            <a:chExt cx="3136465" cy="3857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36465" cy="385799"/>
            </a:xfrm>
            <a:custGeom>
              <a:avLst/>
              <a:gdLst/>
              <a:ahLst/>
              <a:cxnLst/>
              <a:rect l="l" t="t" r="r" b="b"/>
              <a:pathLst>
                <a:path w="3136465" h="385799">
                  <a:moveTo>
                    <a:pt x="0" y="0"/>
                  </a:moveTo>
                  <a:lnTo>
                    <a:pt x="3136465" y="0"/>
                  </a:lnTo>
                  <a:lnTo>
                    <a:pt x="3136465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28575"/>
              <a:ext cx="3136465" cy="357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661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62134" y="3814679"/>
            <a:ext cx="11384499" cy="83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2"/>
              </a:lnSpc>
              <a:spcBef>
                <a:spcPct val="0"/>
              </a:spcBef>
            </a:pPr>
            <a:r>
              <a:rPr lang="en-US" sz="3021" b="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Implementation of Error Detection Techniques Using Parity And Checksum in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87720" y="-811995"/>
            <a:ext cx="4313283" cy="4373418"/>
          </a:xfrm>
          <a:custGeom>
            <a:avLst/>
            <a:gdLst/>
            <a:ahLst/>
            <a:cxnLst/>
            <a:rect l="l" t="t" r="r" b="b"/>
            <a:pathLst>
              <a:path w="4313283" h="4373418">
                <a:moveTo>
                  <a:pt x="0" y="0"/>
                </a:moveTo>
                <a:lnTo>
                  <a:pt x="4313283" y="0"/>
                </a:lnTo>
                <a:lnTo>
                  <a:pt x="4313283" y="4373418"/>
                </a:lnTo>
                <a:lnTo>
                  <a:pt x="0" y="43734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1000"/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885508" y="2445749"/>
            <a:ext cx="14728021" cy="1464829"/>
            <a:chOff x="0" y="0"/>
            <a:chExt cx="3878985" cy="3857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878985" cy="385799"/>
            </a:xfrm>
            <a:custGeom>
              <a:avLst/>
              <a:gdLst/>
              <a:ahLst/>
              <a:cxnLst/>
              <a:rect l="l" t="t" r="r" b="b"/>
              <a:pathLst>
                <a:path w="3878985" h="385799">
                  <a:moveTo>
                    <a:pt x="0" y="0"/>
                  </a:moveTo>
                  <a:lnTo>
                    <a:pt x="3878985" y="0"/>
                  </a:lnTo>
                  <a:lnTo>
                    <a:pt x="3878985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3878985" cy="357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776799" y="2336074"/>
            <a:ext cx="6217418" cy="6922226"/>
          </a:xfrm>
          <a:custGeom>
            <a:avLst/>
            <a:gdLst/>
            <a:ahLst/>
            <a:cxnLst/>
            <a:rect l="l" t="t" r="r" b="b"/>
            <a:pathLst>
              <a:path w="6217418" h="6922226">
                <a:moveTo>
                  <a:pt x="0" y="0"/>
                </a:moveTo>
                <a:lnTo>
                  <a:pt x="6217418" y="0"/>
                </a:lnTo>
                <a:lnTo>
                  <a:pt x="6217418" y="6922226"/>
                </a:lnTo>
                <a:lnTo>
                  <a:pt x="0" y="69222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580701" y="2743478"/>
            <a:ext cx="8542286" cy="90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0"/>
              </a:lnSpc>
              <a:spcBef>
                <a:spcPct val="0"/>
              </a:spcBef>
            </a:pPr>
            <a:r>
              <a:rPr lang="en-US" sz="6221" b="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14197" y="4396045"/>
            <a:ext cx="9024272" cy="4325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2377" lvl="1" indent="-286189" algn="l">
              <a:lnSpc>
                <a:spcPts val="4294"/>
              </a:lnSpc>
              <a:buFont typeface="Arial"/>
              <a:buChar char="•"/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 computer networks, data is transmitted from sender to receiver.</a:t>
            </a:r>
          </a:p>
          <a:p>
            <a:pPr marL="572377" lvl="1" indent="-286189" algn="l">
              <a:lnSpc>
                <a:spcPts val="4294"/>
              </a:lnSpc>
              <a:buFont typeface="Arial"/>
              <a:buChar char="•"/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During transmission, data may get corrupted due to noise or interference.</a:t>
            </a:r>
          </a:p>
          <a:p>
            <a:pPr marL="572377" lvl="1" indent="-286189" algn="l">
              <a:lnSpc>
                <a:spcPts val="4294"/>
              </a:lnSpc>
              <a:buFont typeface="Arial"/>
              <a:buChar char="•"/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Error detection techniques are used to identify such errors.</a:t>
            </a:r>
          </a:p>
          <a:p>
            <a:pPr marL="572377" lvl="1" indent="-286189" algn="l">
              <a:lnSpc>
                <a:spcPts val="4294"/>
              </a:lnSpc>
              <a:buFont typeface="Arial"/>
              <a:buChar char="•"/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Parity and Checksum are basic and widely used error detection methods.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0" y="64276"/>
            <a:ext cx="4998579" cy="2620876"/>
          </a:xfrm>
          <a:custGeom>
            <a:avLst/>
            <a:gdLst/>
            <a:ahLst/>
            <a:cxnLst/>
            <a:rect l="l" t="t" r="r" b="b"/>
            <a:pathLst>
              <a:path w="4998579" h="2620876">
                <a:moveTo>
                  <a:pt x="0" y="0"/>
                </a:moveTo>
                <a:lnTo>
                  <a:pt x="4998579" y="0"/>
                </a:lnTo>
                <a:lnTo>
                  <a:pt x="4998579" y="2620877"/>
                </a:lnTo>
                <a:lnTo>
                  <a:pt x="0" y="262087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697500" y="2445749"/>
            <a:ext cx="21311029" cy="1464829"/>
            <a:chOff x="0" y="0"/>
            <a:chExt cx="5612781" cy="3857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12781" cy="385799"/>
            </a:xfrm>
            <a:custGeom>
              <a:avLst/>
              <a:gdLst/>
              <a:ahLst/>
              <a:cxnLst/>
              <a:rect l="l" t="t" r="r" b="b"/>
              <a:pathLst>
                <a:path w="5612781" h="385799">
                  <a:moveTo>
                    <a:pt x="0" y="0"/>
                  </a:moveTo>
                  <a:lnTo>
                    <a:pt x="5612781" y="0"/>
                  </a:lnTo>
                  <a:lnTo>
                    <a:pt x="5612781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5612781" cy="357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938657" y="2723253"/>
            <a:ext cx="12410685" cy="90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sz="6221" b="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ERROR DETECTION OVERVIEW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64276"/>
            <a:ext cx="4998579" cy="2620876"/>
          </a:xfrm>
          <a:custGeom>
            <a:avLst/>
            <a:gdLst/>
            <a:ahLst/>
            <a:cxnLst/>
            <a:rect l="l" t="t" r="r" b="b"/>
            <a:pathLst>
              <a:path w="4998579" h="2620876">
                <a:moveTo>
                  <a:pt x="0" y="0"/>
                </a:moveTo>
                <a:lnTo>
                  <a:pt x="4998579" y="0"/>
                </a:lnTo>
                <a:lnTo>
                  <a:pt x="4998579" y="2620877"/>
                </a:lnTo>
                <a:lnTo>
                  <a:pt x="0" y="2620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93616" y="4639816"/>
            <a:ext cx="11973900" cy="381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2377" lvl="1" indent="-286189" algn="l">
              <a:lnSpc>
                <a:spcPts val="4294"/>
              </a:lnSpc>
              <a:buFont typeface="Arial"/>
              <a:buChar char="•"/>
            </a:pPr>
            <a:r>
              <a:rPr lang="en-US" sz="2651" b="1" dirty="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Error detection ensures data integrity.</a:t>
            </a:r>
          </a:p>
          <a:p>
            <a:pPr marL="572377" lvl="1" indent="-286189" algn="l">
              <a:lnSpc>
                <a:spcPts val="4294"/>
              </a:lnSpc>
              <a:buFont typeface="Arial"/>
              <a:buChar char="•"/>
            </a:pPr>
            <a:r>
              <a:rPr lang="en-US" sz="2651" b="1" dirty="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It does not correct errors, only detects them.</a:t>
            </a:r>
          </a:p>
          <a:p>
            <a:pPr marL="572377" lvl="1" indent="-286189" algn="l">
              <a:lnSpc>
                <a:spcPts val="4294"/>
              </a:lnSpc>
              <a:buFont typeface="Arial"/>
              <a:buChar char="•"/>
            </a:pPr>
            <a:r>
              <a:rPr lang="en-US" sz="2651" b="1" dirty="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Common error detection techniques : </a:t>
            </a:r>
          </a:p>
          <a:p>
            <a:pPr algn="l">
              <a:lnSpc>
                <a:spcPts val="4294"/>
              </a:lnSpc>
            </a:pPr>
            <a:r>
              <a:rPr lang="en-US" sz="2651" b="1" dirty="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                 I. Parity Check</a:t>
            </a:r>
          </a:p>
          <a:p>
            <a:pPr algn="l">
              <a:lnSpc>
                <a:spcPts val="4294"/>
              </a:lnSpc>
            </a:pPr>
            <a:r>
              <a:rPr lang="en-US" sz="2651" b="1" dirty="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                 II. Checksum</a:t>
            </a:r>
          </a:p>
          <a:p>
            <a:pPr algn="l">
              <a:lnSpc>
                <a:spcPts val="4294"/>
              </a:lnSpc>
            </a:pPr>
            <a:r>
              <a:rPr lang="en-US" sz="2651" b="1" dirty="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                 III. CRC (Cyclic Redundancy Check)</a:t>
            </a:r>
          </a:p>
          <a:p>
            <a:pPr algn="l">
              <a:lnSpc>
                <a:spcPts val="4294"/>
              </a:lnSpc>
            </a:pPr>
            <a:r>
              <a:rPr lang="en-US" sz="2651" b="1" dirty="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                 IV. Hamming Code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697500" y="2445749"/>
            <a:ext cx="21311029" cy="1464829"/>
            <a:chOff x="0" y="0"/>
            <a:chExt cx="5612781" cy="3857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12781" cy="385799"/>
            </a:xfrm>
            <a:custGeom>
              <a:avLst/>
              <a:gdLst/>
              <a:ahLst/>
              <a:cxnLst/>
              <a:rect l="l" t="t" r="r" b="b"/>
              <a:pathLst>
                <a:path w="5612781" h="385799">
                  <a:moveTo>
                    <a:pt x="0" y="0"/>
                  </a:moveTo>
                  <a:lnTo>
                    <a:pt x="5612781" y="0"/>
                  </a:lnTo>
                  <a:lnTo>
                    <a:pt x="5612781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5612781" cy="357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816217" y="2743478"/>
            <a:ext cx="10655566" cy="90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70"/>
              </a:lnSpc>
              <a:spcBef>
                <a:spcPct val="0"/>
              </a:spcBef>
            </a:pPr>
            <a:r>
              <a:rPr lang="en-US" sz="6221" b="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PARITY CHECK TECHNIQUE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373798" y="4473957"/>
            <a:ext cx="357065" cy="357065"/>
            <a:chOff x="0" y="0"/>
            <a:chExt cx="94042" cy="940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042" cy="94042"/>
            </a:xfrm>
            <a:custGeom>
              <a:avLst/>
              <a:gdLst/>
              <a:ahLst/>
              <a:cxnLst/>
              <a:rect l="l" t="t" r="r" b="b"/>
              <a:pathLst>
                <a:path w="94042" h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206123" y="4417990"/>
            <a:ext cx="5875754" cy="431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Parity adds an extra bit to data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73798" y="5261645"/>
            <a:ext cx="357065" cy="357065"/>
            <a:chOff x="0" y="0"/>
            <a:chExt cx="94042" cy="940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4042" cy="94042"/>
            </a:xfrm>
            <a:custGeom>
              <a:avLst/>
              <a:gdLst/>
              <a:ahLst/>
              <a:cxnLst/>
              <a:rect l="l" t="t" r="r" b="b"/>
              <a:pathLst>
                <a:path w="94042" h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73798" y="6047335"/>
            <a:ext cx="357065" cy="357065"/>
            <a:chOff x="0" y="0"/>
            <a:chExt cx="94042" cy="940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4042" cy="94042"/>
            </a:xfrm>
            <a:custGeom>
              <a:avLst/>
              <a:gdLst/>
              <a:ahLst/>
              <a:cxnLst/>
              <a:rect l="l" t="t" r="r" b="b"/>
              <a:pathLst>
                <a:path w="94042" h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0" y="64276"/>
            <a:ext cx="4998579" cy="2620876"/>
          </a:xfrm>
          <a:custGeom>
            <a:avLst/>
            <a:gdLst/>
            <a:ahLst/>
            <a:cxnLst/>
            <a:rect l="l" t="t" r="r" b="b"/>
            <a:pathLst>
              <a:path w="4998579" h="2620876">
                <a:moveTo>
                  <a:pt x="0" y="0"/>
                </a:moveTo>
                <a:lnTo>
                  <a:pt x="4998579" y="0"/>
                </a:lnTo>
                <a:lnTo>
                  <a:pt x="4998579" y="2620877"/>
                </a:lnTo>
                <a:lnTo>
                  <a:pt x="0" y="2620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6206123" y="5233070"/>
            <a:ext cx="5875754" cy="431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Based on number of 1's in the data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206123" y="6018760"/>
            <a:ext cx="5875754" cy="431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Two types: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67950" y="6585570"/>
            <a:ext cx="5875754" cy="84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2377" lvl="1" indent="-286189" algn="l">
              <a:lnSpc>
                <a:spcPts val="3234"/>
              </a:lnSpc>
              <a:buFont typeface="Arial"/>
              <a:buChar char="•"/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Even Parity</a:t>
            </a:r>
          </a:p>
          <a:p>
            <a:pPr marL="572377" lvl="1" indent="-286189" algn="l">
              <a:lnSpc>
                <a:spcPts val="3234"/>
              </a:lnSpc>
              <a:buFont typeface="Arial"/>
              <a:buChar char="•"/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Odd Parity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373798" y="7847908"/>
            <a:ext cx="357065" cy="357065"/>
            <a:chOff x="0" y="0"/>
            <a:chExt cx="94042" cy="9404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4042" cy="94042"/>
            </a:xfrm>
            <a:custGeom>
              <a:avLst/>
              <a:gdLst/>
              <a:ahLst/>
              <a:cxnLst/>
              <a:rect l="l" t="t" r="r" b="b"/>
              <a:pathLst>
                <a:path w="94042" h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5919735" y="7796445"/>
            <a:ext cx="5875754" cy="431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Used to detect single-bit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697500" y="2434908"/>
            <a:ext cx="21311029" cy="1464829"/>
            <a:chOff x="0" y="0"/>
            <a:chExt cx="5612781" cy="3857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12781" cy="385799"/>
            </a:xfrm>
            <a:custGeom>
              <a:avLst/>
              <a:gdLst/>
              <a:ahLst/>
              <a:cxnLst/>
              <a:rect l="l" t="t" r="r" b="b"/>
              <a:pathLst>
                <a:path w="5612781" h="385799">
                  <a:moveTo>
                    <a:pt x="0" y="0"/>
                  </a:moveTo>
                  <a:lnTo>
                    <a:pt x="5612781" y="0"/>
                  </a:lnTo>
                  <a:lnTo>
                    <a:pt x="5612781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5612781" cy="357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64276"/>
            <a:ext cx="4998579" cy="2620876"/>
          </a:xfrm>
          <a:custGeom>
            <a:avLst/>
            <a:gdLst/>
            <a:ahLst/>
            <a:cxnLst/>
            <a:rect l="l" t="t" r="r" b="b"/>
            <a:pathLst>
              <a:path w="4998579" h="2620876">
                <a:moveTo>
                  <a:pt x="0" y="0"/>
                </a:moveTo>
                <a:lnTo>
                  <a:pt x="4998579" y="0"/>
                </a:lnTo>
                <a:lnTo>
                  <a:pt x="4998579" y="2620877"/>
                </a:lnTo>
                <a:lnTo>
                  <a:pt x="0" y="2620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514373" y="4728472"/>
            <a:ext cx="6924769" cy="3409429"/>
          </a:xfrm>
          <a:custGeom>
            <a:avLst/>
            <a:gdLst/>
            <a:ahLst/>
            <a:cxnLst/>
            <a:rect l="l" t="t" r="r" b="b"/>
            <a:pathLst>
              <a:path w="6924769" h="3409429">
                <a:moveTo>
                  <a:pt x="0" y="0"/>
                </a:moveTo>
                <a:lnTo>
                  <a:pt x="6924769" y="0"/>
                </a:lnTo>
                <a:lnTo>
                  <a:pt x="6924769" y="3409430"/>
                </a:lnTo>
                <a:lnTo>
                  <a:pt x="0" y="34094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5" r="-105" b="-12347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878990" y="2723253"/>
            <a:ext cx="10530019" cy="90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0"/>
              </a:lnSpc>
              <a:spcBef>
                <a:spcPct val="0"/>
              </a:spcBef>
            </a:pPr>
            <a:r>
              <a:rPr lang="en-US" sz="6221" b="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PARITY BIT &amp; CHECKSUM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71635" y="4371408"/>
            <a:ext cx="357065" cy="357065"/>
            <a:chOff x="0" y="0"/>
            <a:chExt cx="94042" cy="940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042" cy="94042"/>
            </a:xfrm>
            <a:custGeom>
              <a:avLst/>
              <a:gdLst/>
              <a:ahLst/>
              <a:cxnLst/>
              <a:rect l="l" t="t" r="r" b="b"/>
              <a:pathLst>
                <a:path w="94042" h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278440" y="5424715"/>
            <a:ext cx="5875754" cy="431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Even Parity :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05515" y="5781780"/>
            <a:ext cx="7899933" cy="431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2377" lvl="1" indent="-286189" algn="l">
              <a:lnSpc>
                <a:spcPts val="3234"/>
              </a:lnSpc>
              <a:buFont typeface="Arial"/>
              <a:buChar char="•"/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Total number of 1's must be Even.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71635" y="5453290"/>
            <a:ext cx="357065" cy="357065"/>
            <a:chOff x="0" y="0"/>
            <a:chExt cx="94042" cy="9404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4042" cy="94042"/>
            </a:xfrm>
            <a:custGeom>
              <a:avLst/>
              <a:gdLst/>
              <a:ahLst/>
              <a:cxnLst/>
              <a:rect l="l" t="t" r="r" b="b"/>
              <a:pathLst>
                <a:path w="94042" h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78440" y="6482792"/>
            <a:ext cx="5875754" cy="431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Odd Parity :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05515" y="6895158"/>
            <a:ext cx="7899933" cy="431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2377" lvl="1" indent="-286189" algn="l">
              <a:lnSpc>
                <a:spcPts val="3234"/>
              </a:lnSpc>
              <a:buFont typeface="Arial"/>
              <a:buChar char="•"/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Total number of 1's must be Odd.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71635" y="6534255"/>
            <a:ext cx="357065" cy="357065"/>
            <a:chOff x="0" y="0"/>
            <a:chExt cx="94042" cy="940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4042" cy="94042"/>
            </a:xfrm>
            <a:custGeom>
              <a:avLst/>
              <a:gdLst/>
              <a:ahLst/>
              <a:cxnLst/>
              <a:rect l="l" t="t" r="r" b="b"/>
              <a:pathLst>
                <a:path w="94042" h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1635" y="7615220"/>
            <a:ext cx="357065" cy="357065"/>
            <a:chOff x="0" y="0"/>
            <a:chExt cx="94042" cy="940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4042" cy="94042"/>
            </a:xfrm>
            <a:custGeom>
              <a:avLst/>
              <a:gdLst/>
              <a:ahLst/>
              <a:cxnLst/>
              <a:rect l="l" t="t" r="r" b="b"/>
              <a:pathLst>
                <a:path w="94042" h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278440" y="4420263"/>
            <a:ext cx="6679574" cy="84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Parity is a single-bit error detection technique.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78440" y="7563756"/>
            <a:ext cx="6679574" cy="84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Sender sends data and checksum and </a:t>
            </a:r>
          </a:p>
          <a:p>
            <a:pPr algn="l">
              <a:lnSpc>
                <a:spcPts val="3234"/>
              </a:lnSpc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Receiver recalculates checksum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671635" y="8696184"/>
            <a:ext cx="357065" cy="357065"/>
            <a:chOff x="0" y="0"/>
            <a:chExt cx="94042" cy="9404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4042" cy="94042"/>
            </a:xfrm>
            <a:custGeom>
              <a:avLst/>
              <a:gdLst/>
              <a:ahLst/>
              <a:cxnLst/>
              <a:rect l="l" t="t" r="r" b="b"/>
              <a:pathLst>
                <a:path w="94042" h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78440" y="8667609"/>
            <a:ext cx="6679574" cy="84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If both values match → No Error </a:t>
            </a:r>
          </a:p>
          <a:p>
            <a:pPr algn="l">
              <a:lnSpc>
                <a:spcPts val="3234"/>
              </a:lnSpc>
            </a:pPr>
            <a:r>
              <a:rPr lang="en-US" sz="26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If mismatch → Error Detected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2545100" y="2587308"/>
            <a:ext cx="21311029" cy="1464829"/>
            <a:chOff x="0" y="0"/>
            <a:chExt cx="5612781" cy="3857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612781" cy="385799"/>
            </a:xfrm>
            <a:custGeom>
              <a:avLst/>
              <a:gdLst/>
              <a:ahLst/>
              <a:cxnLst/>
              <a:rect l="l" t="t" r="r" b="b"/>
              <a:pathLst>
                <a:path w="5612781" h="385799">
                  <a:moveTo>
                    <a:pt x="0" y="0"/>
                  </a:moveTo>
                  <a:lnTo>
                    <a:pt x="5612781" y="0"/>
                  </a:lnTo>
                  <a:lnTo>
                    <a:pt x="5612781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5612781" cy="357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4412411"/>
            <a:ext cx="357065" cy="357065"/>
            <a:chOff x="0" y="0"/>
            <a:chExt cx="94042" cy="940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042" cy="94042"/>
            </a:xfrm>
            <a:custGeom>
              <a:avLst/>
              <a:gdLst/>
              <a:ahLst/>
              <a:cxnLst/>
              <a:rect l="l" t="t" r="r" b="b"/>
              <a:pathLst>
                <a:path w="94042" h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700" y="6536451"/>
            <a:ext cx="357065" cy="357065"/>
            <a:chOff x="0" y="0"/>
            <a:chExt cx="94042" cy="940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042" cy="94042"/>
            </a:xfrm>
            <a:custGeom>
              <a:avLst/>
              <a:gdLst/>
              <a:ahLst/>
              <a:cxnLst/>
              <a:rect l="l" t="t" r="r" b="b"/>
              <a:pathLst>
                <a:path w="94042" h="94042">
                  <a:moveTo>
                    <a:pt x="0" y="0"/>
                  </a:moveTo>
                  <a:lnTo>
                    <a:pt x="94042" y="0"/>
                  </a:lnTo>
                  <a:lnTo>
                    <a:pt x="94042" y="94042"/>
                  </a:lnTo>
                  <a:lnTo>
                    <a:pt x="0" y="94042"/>
                  </a:lnTo>
                  <a:close/>
                </a:path>
              </a:pathLst>
            </a:custGeom>
            <a:solidFill>
              <a:srgbClr val="4F9FF5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28575"/>
              <a:ext cx="94042" cy="65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0" y="64276"/>
            <a:ext cx="4998579" cy="2620876"/>
          </a:xfrm>
          <a:custGeom>
            <a:avLst/>
            <a:gdLst/>
            <a:ahLst/>
            <a:cxnLst/>
            <a:rect l="l" t="t" r="r" b="b"/>
            <a:pathLst>
              <a:path w="4998579" h="2620876">
                <a:moveTo>
                  <a:pt x="0" y="0"/>
                </a:moveTo>
                <a:lnTo>
                  <a:pt x="4998579" y="0"/>
                </a:lnTo>
                <a:lnTo>
                  <a:pt x="4998579" y="2620877"/>
                </a:lnTo>
                <a:lnTo>
                  <a:pt x="0" y="2620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329436" y="3738344"/>
            <a:ext cx="9676648" cy="6448578"/>
          </a:xfrm>
          <a:custGeom>
            <a:avLst/>
            <a:gdLst/>
            <a:ahLst/>
            <a:cxnLst/>
            <a:rect l="l" t="t" r="r" b="b"/>
            <a:pathLst>
              <a:path w="9676648" h="6448578">
                <a:moveTo>
                  <a:pt x="0" y="0"/>
                </a:moveTo>
                <a:lnTo>
                  <a:pt x="9676647" y="0"/>
                </a:lnTo>
                <a:lnTo>
                  <a:pt x="9676647" y="6448579"/>
                </a:lnTo>
                <a:lnTo>
                  <a:pt x="0" y="64485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706290" y="2866765"/>
            <a:ext cx="12875420" cy="90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0"/>
              </a:lnSpc>
              <a:spcBef>
                <a:spcPct val="0"/>
              </a:spcBef>
            </a:pPr>
            <a:r>
              <a:rPr lang="en-US" sz="6221" b="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SENDER–RECEIVER SIMULATION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18023" y="4374311"/>
            <a:ext cx="4676875" cy="394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381" b="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Sender Side: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18023" y="6499513"/>
            <a:ext cx="4676875" cy="394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4"/>
              </a:lnSpc>
            </a:pPr>
            <a:r>
              <a:rPr lang="en-US" sz="2381" b="1">
                <a:solidFill>
                  <a:srgbClr val="063050"/>
                </a:solidFill>
                <a:latin typeface="Poppins Bold"/>
                <a:ea typeface="Poppins Bold"/>
                <a:cs typeface="Poppins Bold"/>
                <a:sym typeface="Poppins Bold"/>
              </a:rPr>
              <a:t>Receiver Side: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15813" y="4895252"/>
            <a:ext cx="6165532" cy="1737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6020" lvl="1" indent="-243010" algn="l">
              <a:lnSpc>
                <a:spcPts val="2746"/>
              </a:lnSpc>
              <a:buFont typeface="Arial"/>
              <a:buChar char="•"/>
            </a:pPr>
            <a:r>
              <a:rPr lang="en-US" sz="22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Accepts binary data</a:t>
            </a:r>
          </a:p>
          <a:p>
            <a:pPr marL="486020" lvl="1" indent="-243010" algn="l">
              <a:lnSpc>
                <a:spcPts val="2746"/>
              </a:lnSpc>
              <a:buFont typeface="Arial"/>
              <a:buChar char="•"/>
            </a:pPr>
            <a:r>
              <a:rPr lang="en-US" sz="22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Calculates parity bit</a:t>
            </a:r>
          </a:p>
          <a:p>
            <a:pPr marL="486020" lvl="1" indent="-243010" algn="l">
              <a:lnSpc>
                <a:spcPts val="2746"/>
              </a:lnSpc>
              <a:buFont typeface="Arial"/>
              <a:buChar char="•"/>
            </a:pPr>
            <a:r>
              <a:rPr lang="en-US" sz="22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Calculates checksum</a:t>
            </a:r>
          </a:p>
          <a:p>
            <a:pPr marL="486020" lvl="1" indent="-243010" algn="l">
              <a:lnSpc>
                <a:spcPts val="2746"/>
              </a:lnSpc>
              <a:buFont typeface="Arial"/>
              <a:buChar char="•"/>
            </a:pPr>
            <a:r>
              <a:rPr lang="en-US" sz="22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Transmits data + parity + checksum</a:t>
            </a:r>
          </a:p>
          <a:p>
            <a:pPr algn="l">
              <a:lnSpc>
                <a:spcPts val="2746"/>
              </a:lnSpc>
            </a:pPr>
            <a:endParaRPr lang="en-US" sz="2251" b="1">
              <a:solidFill>
                <a:srgbClr val="06305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915813" y="7017341"/>
            <a:ext cx="6165532" cy="1394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6020" lvl="1" indent="-243010" algn="l">
              <a:lnSpc>
                <a:spcPts val="2746"/>
              </a:lnSpc>
              <a:buFont typeface="Arial"/>
              <a:buChar char="•"/>
            </a:pPr>
            <a:r>
              <a:rPr lang="en-US" sz="22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Recounts data bits</a:t>
            </a:r>
          </a:p>
          <a:p>
            <a:pPr marL="486020" lvl="1" indent="-243010" algn="l">
              <a:lnSpc>
                <a:spcPts val="2746"/>
              </a:lnSpc>
              <a:buFont typeface="Arial"/>
              <a:buChar char="•"/>
            </a:pPr>
            <a:r>
              <a:rPr lang="en-US" sz="22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Verifies parity rule</a:t>
            </a:r>
          </a:p>
          <a:p>
            <a:pPr marL="486020" lvl="1" indent="-243010" algn="l">
              <a:lnSpc>
                <a:spcPts val="2746"/>
              </a:lnSpc>
              <a:buFont typeface="Arial"/>
              <a:buChar char="•"/>
            </a:pPr>
            <a:r>
              <a:rPr lang="en-US" sz="22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Verifies checksum</a:t>
            </a:r>
          </a:p>
          <a:p>
            <a:pPr marL="486020" lvl="1" indent="-243010" algn="l">
              <a:lnSpc>
                <a:spcPts val="2746"/>
              </a:lnSpc>
              <a:buFont typeface="Arial"/>
              <a:buChar char="•"/>
            </a:pPr>
            <a:r>
              <a:rPr lang="en-US" sz="22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Displays error status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64276"/>
            <a:ext cx="4998579" cy="2620876"/>
          </a:xfrm>
          <a:custGeom>
            <a:avLst/>
            <a:gdLst/>
            <a:ahLst/>
            <a:cxnLst/>
            <a:rect l="l" t="t" r="r" b="b"/>
            <a:pathLst>
              <a:path w="4998579" h="2620876">
                <a:moveTo>
                  <a:pt x="0" y="0"/>
                </a:moveTo>
                <a:lnTo>
                  <a:pt x="4998579" y="0"/>
                </a:lnTo>
                <a:lnTo>
                  <a:pt x="4998579" y="2620877"/>
                </a:lnTo>
                <a:lnTo>
                  <a:pt x="0" y="2620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2697500" y="2434908"/>
            <a:ext cx="21311029" cy="1464829"/>
            <a:chOff x="0" y="0"/>
            <a:chExt cx="5612781" cy="3857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12781" cy="385799"/>
            </a:xfrm>
            <a:custGeom>
              <a:avLst/>
              <a:gdLst/>
              <a:ahLst/>
              <a:cxnLst/>
              <a:rect l="l" t="t" r="r" b="b"/>
              <a:pathLst>
                <a:path w="5612781" h="385799">
                  <a:moveTo>
                    <a:pt x="0" y="0"/>
                  </a:moveTo>
                  <a:lnTo>
                    <a:pt x="5612781" y="0"/>
                  </a:lnTo>
                  <a:lnTo>
                    <a:pt x="5612781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5612781" cy="357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4095547"/>
            <a:ext cx="7461872" cy="6191453"/>
          </a:xfrm>
          <a:custGeom>
            <a:avLst/>
            <a:gdLst/>
            <a:ahLst/>
            <a:cxnLst/>
            <a:rect l="l" t="t" r="r" b="b"/>
            <a:pathLst>
              <a:path w="7461872" h="6191453">
                <a:moveTo>
                  <a:pt x="0" y="0"/>
                </a:moveTo>
                <a:lnTo>
                  <a:pt x="7461872" y="0"/>
                </a:lnTo>
                <a:lnTo>
                  <a:pt x="7461872" y="6191453"/>
                </a:lnTo>
                <a:lnTo>
                  <a:pt x="0" y="61914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255" r="-1225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832402" y="4601000"/>
            <a:ext cx="7525307" cy="406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9198" lvl="1" indent="-264599" algn="l">
              <a:lnSpc>
                <a:spcPts val="3970"/>
              </a:lnSpc>
              <a:buFont typeface="Arial"/>
              <a:buChar char="•"/>
            </a:pPr>
            <a:r>
              <a:rPr lang="en-US" sz="2451" b="1" dirty="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Link Layer protocols</a:t>
            </a:r>
          </a:p>
          <a:p>
            <a:pPr marL="529198" lvl="1" indent="-264599" algn="l">
              <a:lnSpc>
                <a:spcPts val="3970"/>
              </a:lnSpc>
              <a:buFont typeface="Arial"/>
              <a:buChar char="•"/>
            </a:pPr>
            <a:r>
              <a:rPr lang="en-US" sz="2451" b="1" dirty="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Memory error checking</a:t>
            </a:r>
          </a:p>
          <a:p>
            <a:pPr marL="529198" lvl="1" indent="-264599" algn="l">
              <a:lnSpc>
                <a:spcPts val="3970"/>
              </a:lnSpc>
              <a:buFont typeface="Arial"/>
              <a:buChar char="•"/>
            </a:pPr>
            <a:r>
              <a:rPr lang="en-US" sz="2451" b="1" dirty="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Serial communication systems</a:t>
            </a:r>
          </a:p>
          <a:p>
            <a:pPr marL="529198" lvl="1" indent="-264599" algn="l">
              <a:lnSpc>
                <a:spcPts val="3970"/>
              </a:lnSpc>
              <a:buFont typeface="Arial"/>
              <a:buChar char="•"/>
            </a:pPr>
            <a:r>
              <a:rPr lang="en-US" sz="2451" b="1" dirty="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Network transmission systems</a:t>
            </a:r>
          </a:p>
          <a:p>
            <a:pPr marL="529198" lvl="1" indent="-264599" algn="l">
              <a:lnSpc>
                <a:spcPts val="3970"/>
              </a:lnSpc>
              <a:buFont typeface="Arial"/>
              <a:buChar char="•"/>
            </a:pPr>
            <a:r>
              <a:rPr lang="en-US" sz="2451" b="1" dirty="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Computer hardware communication</a:t>
            </a:r>
          </a:p>
          <a:p>
            <a:pPr marL="529198" lvl="1" indent="-264599" algn="l">
              <a:lnSpc>
                <a:spcPts val="3970"/>
              </a:lnSpc>
              <a:buFont typeface="Arial"/>
              <a:buChar char="•"/>
            </a:pPr>
            <a:r>
              <a:rPr lang="en-US" sz="2451" b="1" dirty="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File transfer systems</a:t>
            </a:r>
          </a:p>
          <a:p>
            <a:pPr marL="529198" lvl="1" indent="-264599" algn="l">
              <a:lnSpc>
                <a:spcPts val="3970"/>
              </a:lnSpc>
              <a:buFont typeface="Arial"/>
              <a:buChar char="•"/>
            </a:pPr>
            <a:r>
              <a:rPr lang="en-US" sz="2451" b="1" dirty="0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Digital communication systems</a:t>
            </a:r>
          </a:p>
          <a:p>
            <a:pPr algn="l">
              <a:lnSpc>
                <a:spcPts val="3970"/>
              </a:lnSpc>
            </a:pPr>
            <a:endParaRPr lang="en-US" sz="2451" b="1" dirty="0">
              <a:solidFill>
                <a:srgbClr val="063050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706290" y="2723253"/>
            <a:ext cx="12875420" cy="90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0"/>
              </a:lnSpc>
              <a:spcBef>
                <a:spcPct val="0"/>
              </a:spcBef>
            </a:pPr>
            <a:r>
              <a:rPr lang="en-US" sz="6221" b="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&amp; USES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64276"/>
            <a:ext cx="4998579" cy="2620876"/>
          </a:xfrm>
          <a:custGeom>
            <a:avLst/>
            <a:gdLst/>
            <a:ahLst/>
            <a:cxnLst/>
            <a:rect l="l" t="t" r="r" b="b"/>
            <a:pathLst>
              <a:path w="4998579" h="2620876">
                <a:moveTo>
                  <a:pt x="0" y="0"/>
                </a:moveTo>
                <a:lnTo>
                  <a:pt x="4998579" y="0"/>
                </a:lnTo>
                <a:lnTo>
                  <a:pt x="4998579" y="2620877"/>
                </a:lnTo>
                <a:lnTo>
                  <a:pt x="0" y="26208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2545100" y="2587308"/>
            <a:ext cx="21311029" cy="1464829"/>
            <a:chOff x="0" y="0"/>
            <a:chExt cx="5612781" cy="3857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12781" cy="385799"/>
            </a:xfrm>
            <a:custGeom>
              <a:avLst/>
              <a:gdLst/>
              <a:ahLst/>
              <a:cxnLst/>
              <a:rect l="l" t="t" r="r" b="b"/>
              <a:pathLst>
                <a:path w="5612781" h="385799">
                  <a:moveTo>
                    <a:pt x="0" y="0"/>
                  </a:moveTo>
                  <a:lnTo>
                    <a:pt x="5612781" y="0"/>
                  </a:lnTo>
                  <a:lnTo>
                    <a:pt x="5612781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28575"/>
              <a:ext cx="5612781" cy="357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 flipH="1">
            <a:off x="12578742" y="4485008"/>
            <a:ext cx="0" cy="576613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-508270" y="4052137"/>
            <a:ext cx="8789325" cy="5857261"/>
          </a:xfrm>
          <a:custGeom>
            <a:avLst/>
            <a:gdLst/>
            <a:ahLst/>
            <a:cxnLst/>
            <a:rect l="l" t="t" r="r" b="b"/>
            <a:pathLst>
              <a:path w="8789325" h="5857261">
                <a:moveTo>
                  <a:pt x="0" y="0"/>
                </a:moveTo>
                <a:lnTo>
                  <a:pt x="8789324" y="0"/>
                </a:lnTo>
                <a:lnTo>
                  <a:pt x="8789324" y="5857261"/>
                </a:lnTo>
                <a:lnTo>
                  <a:pt x="0" y="5857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706290" y="2885037"/>
            <a:ext cx="12875420" cy="90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0"/>
              </a:lnSpc>
              <a:spcBef>
                <a:spcPct val="0"/>
              </a:spcBef>
            </a:pPr>
            <a:r>
              <a:rPr lang="en-US" sz="6221" b="1">
                <a:solidFill>
                  <a:srgbClr val="F0F7FE"/>
                </a:solidFill>
                <a:latin typeface="Poppins Bold"/>
                <a:ea typeface="Poppins Bold"/>
                <a:cs typeface="Poppins Bold"/>
                <a:sym typeface="Poppins Bold"/>
              </a:rPr>
              <a:t>Advantages &amp; Disadvantages</a:t>
            </a:r>
          </a:p>
        </p:txBody>
      </p:sp>
      <p:sp>
        <p:nvSpPr>
          <p:cNvPr id="10" name="AutoShape 10"/>
          <p:cNvSpPr/>
          <p:nvPr/>
        </p:nvSpPr>
        <p:spPr>
          <a:xfrm flipH="1" flipV="1">
            <a:off x="7585890" y="5143500"/>
            <a:ext cx="1070211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8281054" y="4456433"/>
            <a:ext cx="5875754" cy="51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6"/>
              </a:lnSpc>
            </a:pPr>
            <a:r>
              <a:rPr lang="en-US" sz="32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Advantages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68225" y="4456433"/>
            <a:ext cx="5875754" cy="515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6"/>
              </a:lnSpc>
            </a:pPr>
            <a:r>
              <a:rPr lang="en-US" sz="3251" b="1">
                <a:solidFill>
                  <a:srgbClr val="06305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Disadvantages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85890" y="5210175"/>
            <a:ext cx="4973801" cy="4368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2377" lvl="1" indent="-286189" algn="l">
              <a:lnSpc>
                <a:spcPts val="4268"/>
              </a:lnSpc>
              <a:buFont typeface="Arial"/>
              <a:buChar char="•"/>
            </a:pPr>
            <a:r>
              <a:rPr lang="en-US" sz="2651" dirty="0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Simple and easy to implement</a:t>
            </a:r>
          </a:p>
          <a:p>
            <a:pPr marL="572377" lvl="1" indent="-286189" algn="l">
              <a:lnSpc>
                <a:spcPts val="4268"/>
              </a:lnSpc>
              <a:buFont typeface="Arial"/>
              <a:buChar char="•"/>
            </a:pPr>
            <a:r>
              <a:rPr lang="en-US" sz="2651" dirty="0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Requires less computation</a:t>
            </a:r>
          </a:p>
          <a:p>
            <a:pPr marL="572377" lvl="1" indent="-286189" algn="l">
              <a:lnSpc>
                <a:spcPts val="4268"/>
              </a:lnSpc>
              <a:buFont typeface="Arial"/>
              <a:buChar char="•"/>
            </a:pPr>
            <a:r>
              <a:rPr lang="en-US" sz="2651" dirty="0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Fast error detection</a:t>
            </a:r>
          </a:p>
          <a:p>
            <a:pPr marL="572377" lvl="1" indent="-286189" algn="l">
              <a:lnSpc>
                <a:spcPts val="4268"/>
              </a:lnSpc>
              <a:buFont typeface="Arial"/>
              <a:buChar char="•"/>
            </a:pPr>
            <a:r>
              <a:rPr lang="en-US" sz="2651" dirty="0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Suitable for small data transmission</a:t>
            </a:r>
          </a:p>
          <a:p>
            <a:pPr algn="l">
              <a:lnSpc>
                <a:spcPts val="4268"/>
              </a:lnSpc>
            </a:pPr>
            <a:endParaRPr lang="en-US" sz="2651" dirty="0">
              <a:solidFill>
                <a:srgbClr val="063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773758" y="5210175"/>
            <a:ext cx="4973801" cy="4786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2377" lvl="1" indent="-286189" algn="l">
              <a:lnSpc>
                <a:spcPts val="4268"/>
              </a:lnSpc>
              <a:buFont typeface="Arial"/>
              <a:buChar char="•"/>
            </a:pPr>
            <a:r>
              <a:rPr lang="en-US" sz="265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Cannot locate the error position</a:t>
            </a:r>
          </a:p>
          <a:p>
            <a:pPr marL="572377" lvl="1" indent="-286189" algn="l">
              <a:lnSpc>
                <a:spcPts val="4268"/>
              </a:lnSpc>
              <a:buFont typeface="Arial"/>
              <a:buChar char="•"/>
            </a:pPr>
            <a:r>
              <a:rPr lang="en-US" sz="265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Cannot correct errors</a:t>
            </a:r>
          </a:p>
          <a:p>
            <a:pPr marL="572377" lvl="1" indent="-286189" algn="l">
              <a:lnSpc>
                <a:spcPts val="4268"/>
              </a:lnSpc>
              <a:buFont typeface="Arial"/>
              <a:buChar char="•"/>
            </a:pPr>
            <a:r>
              <a:rPr lang="en-US" sz="265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Multiple-bit errors may go undetected</a:t>
            </a:r>
          </a:p>
          <a:p>
            <a:pPr marL="572377" lvl="1" indent="-286189" algn="l">
              <a:lnSpc>
                <a:spcPts val="4268"/>
              </a:lnSpc>
              <a:buFont typeface="Arial"/>
              <a:buChar char="•"/>
            </a:pPr>
            <a:r>
              <a:rPr lang="en-US" sz="2651">
                <a:solidFill>
                  <a:srgbClr val="063050"/>
                </a:solidFill>
                <a:latin typeface="Poppins"/>
                <a:ea typeface="Poppins"/>
                <a:cs typeface="Poppins"/>
                <a:sym typeface="Poppins"/>
              </a:rPr>
              <a:t>Not suitable for high-noise environments</a:t>
            </a:r>
          </a:p>
          <a:p>
            <a:pPr algn="l">
              <a:lnSpc>
                <a:spcPts val="4268"/>
              </a:lnSpc>
            </a:pPr>
            <a:endParaRPr lang="en-US" sz="2651">
              <a:solidFill>
                <a:srgbClr val="06305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268"/>
              </a:lnSpc>
            </a:pPr>
            <a:endParaRPr lang="en-US" sz="2651">
              <a:solidFill>
                <a:srgbClr val="063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25529" y="3404967"/>
            <a:ext cx="18939059" cy="1464829"/>
            <a:chOff x="0" y="0"/>
            <a:chExt cx="4988065" cy="3857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988065" cy="385799"/>
            </a:xfrm>
            <a:custGeom>
              <a:avLst/>
              <a:gdLst/>
              <a:ahLst/>
              <a:cxnLst/>
              <a:rect l="l" t="t" r="r" b="b"/>
              <a:pathLst>
                <a:path w="4988065" h="385799">
                  <a:moveTo>
                    <a:pt x="0" y="0"/>
                  </a:moveTo>
                  <a:lnTo>
                    <a:pt x="4988065" y="0"/>
                  </a:lnTo>
                  <a:lnTo>
                    <a:pt x="4988065" y="385799"/>
                  </a:lnTo>
                  <a:lnTo>
                    <a:pt x="0" y="385799"/>
                  </a:lnTo>
                  <a:close/>
                </a:path>
              </a:pathLst>
            </a:custGeom>
            <a:solidFill>
              <a:srgbClr val="2B59C3">
                <a:alpha val="71765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28575"/>
              <a:ext cx="4988065" cy="3572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1588548"/>
            <a:ext cx="2549517" cy="2585062"/>
          </a:xfrm>
          <a:custGeom>
            <a:avLst/>
            <a:gdLst/>
            <a:ahLst/>
            <a:cxnLst/>
            <a:rect l="l" t="t" r="r" b="b"/>
            <a:pathLst>
              <a:path w="2549517" h="2585062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543611" y="3404967"/>
            <a:ext cx="2549517" cy="2585062"/>
          </a:xfrm>
          <a:custGeom>
            <a:avLst/>
            <a:gdLst/>
            <a:ahLst/>
            <a:cxnLst/>
            <a:rect l="l" t="t" r="r" b="b"/>
            <a:pathLst>
              <a:path w="2549517" h="2585062">
                <a:moveTo>
                  <a:pt x="0" y="0"/>
                </a:moveTo>
                <a:lnTo>
                  <a:pt x="2549517" y="0"/>
                </a:lnTo>
                <a:lnTo>
                  <a:pt x="2549517" y="2585062"/>
                </a:lnTo>
                <a:lnTo>
                  <a:pt x="0" y="25850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919426" y="3607190"/>
            <a:ext cx="8449147" cy="137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24"/>
              </a:lnSpc>
              <a:spcBef>
                <a:spcPct val="0"/>
              </a:spcBef>
            </a:pPr>
            <a:r>
              <a:rPr lang="en-US" sz="9350" b="1" dirty="0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295</Words>
  <Application>Microsoft Office PowerPoint</Application>
  <PresentationFormat>Custom</PresentationFormat>
  <Paragraphs>64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Poppins Bold</vt:lpstr>
      <vt:lpstr>Calibri</vt:lpstr>
      <vt:lpstr>Poppins Medium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</dc:title>
  <cp:lastModifiedBy>Krish Zinzuvadia</cp:lastModifiedBy>
  <cp:revision>4</cp:revision>
  <dcterms:created xsi:type="dcterms:W3CDTF">2006-08-16T00:00:00Z</dcterms:created>
  <dcterms:modified xsi:type="dcterms:W3CDTF">2026-02-07T15:58:34Z</dcterms:modified>
  <dc:identifier>DAHASMIBACU</dc:identifier>
</cp:coreProperties>
</file>